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2"/>
  </p:notesMasterIdLst>
  <p:sldIdLst>
    <p:sldId id="256" r:id="rId2"/>
    <p:sldId id="258" r:id="rId3"/>
    <p:sldId id="260" r:id="rId4"/>
    <p:sldId id="261" r:id="rId5"/>
    <p:sldId id="312" r:id="rId6"/>
    <p:sldId id="313" r:id="rId7"/>
    <p:sldId id="314" r:id="rId8"/>
    <p:sldId id="315" r:id="rId9"/>
    <p:sldId id="316" r:id="rId10"/>
    <p:sldId id="317" r:id="rId11"/>
  </p:sldIdLst>
  <p:sldSz cx="9144000" cy="5143500" type="screen16x9"/>
  <p:notesSz cx="6858000" cy="9144000"/>
  <p:embeddedFontLst>
    <p:embeddedFont>
      <p:font typeface="Anaheim" panose="020B0604020202020204" charset="0"/>
      <p:regular r:id="rId13"/>
      <p:bold r:id="rId14"/>
    </p:embeddedFont>
    <p:embeddedFont>
      <p:font typeface="Oranienbaum" panose="02000506080000020003" pitchFamily="2" charset="0"/>
      <p:regular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CC35902-1415-48CB-AF49-58A150AA1403}">
  <a:tblStyle styleId="{ACC35902-1415-48CB-AF49-58A150AA140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16" name="Google Shape;31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e35c3613c9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37" name="Google Shape;337;ge35c3613c9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e35c3613c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62" name="Google Shape;362;ge35c3613c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e2b3de137c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72" name="Google Shape;372;ge2b3de137c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>
          <a:extLst>
            <a:ext uri="{FF2B5EF4-FFF2-40B4-BE49-F238E27FC236}">
              <a16:creationId xmlns:a16="http://schemas.microsoft.com/office/drawing/2014/main" id="{20C610E4-70D0-51B3-6957-94FBE1134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e35c3613c9_0_6:notes">
            <a:extLst>
              <a:ext uri="{FF2B5EF4-FFF2-40B4-BE49-F238E27FC236}">
                <a16:creationId xmlns:a16="http://schemas.microsoft.com/office/drawing/2014/main" id="{598F62CA-6F8C-F494-813F-1A443A140C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62" name="Google Shape;362;ge35c3613c9_0_6:notes">
            <a:extLst>
              <a:ext uri="{FF2B5EF4-FFF2-40B4-BE49-F238E27FC236}">
                <a16:creationId xmlns:a16="http://schemas.microsoft.com/office/drawing/2014/main" id="{B77725C5-4EA3-B7B6-D134-288C4706D0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70690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32326DF7-1A73-358B-3B7C-D2785B04F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e2b3de137c_0_87:notes">
            <a:extLst>
              <a:ext uri="{FF2B5EF4-FFF2-40B4-BE49-F238E27FC236}">
                <a16:creationId xmlns:a16="http://schemas.microsoft.com/office/drawing/2014/main" id="{8AF47E23-BD84-F6FC-23B8-8857CFE5BA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72" name="Google Shape;372;ge2b3de137c_0_87:notes">
            <a:extLst>
              <a:ext uri="{FF2B5EF4-FFF2-40B4-BE49-F238E27FC236}">
                <a16:creationId xmlns:a16="http://schemas.microsoft.com/office/drawing/2014/main" id="{8AA85CFE-8436-B95D-AC2E-CC73F0AC5C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56659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F3632FBB-9291-9422-F690-3141EA6A9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e2b3de137c_0_87:notes">
            <a:extLst>
              <a:ext uri="{FF2B5EF4-FFF2-40B4-BE49-F238E27FC236}">
                <a16:creationId xmlns:a16="http://schemas.microsoft.com/office/drawing/2014/main" id="{5E40D8EB-5D7C-2AFF-990C-6A2C8998AC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72" name="Google Shape;372;ge2b3de137c_0_87:notes">
            <a:extLst>
              <a:ext uri="{FF2B5EF4-FFF2-40B4-BE49-F238E27FC236}">
                <a16:creationId xmlns:a16="http://schemas.microsoft.com/office/drawing/2014/main" id="{EA699545-2C82-8077-1242-AADBE3E3E9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6011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>
          <a:extLst>
            <a:ext uri="{FF2B5EF4-FFF2-40B4-BE49-F238E27FC236}">
              <a16:creationId xmlns:a16="http://schemas.microsoft.com/office/drawing/2014/main" id="{473BA71E-FD94-403B-4833-0D35C5921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e35c3613c9_0_6:notes">
            <a:extLst>
              <a:ext uri="{FF2B5EF4-FFF2-40B4-BE49-F238E27FC236}">
                <a16:creationId xmlns:a16="http://schemas.microsoft.com/office/drawing/2014/main" id="{E6BAF847-A33A-14FC-18DB-098E479CF8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62" name="Google Shape;362;ge35c3613c9_0_6:notes">
            <a:extLst>
              <a:ext uri="{FF2B5EF4-FFF2-40B4-BE49-F238E27FC236}">
                <a16:creationId xmlns:a16="http://schemas.microsoft.com/office/drawing/2014/main" id="{558C3084-C5CA-5073-BC79-BFFBE04AAC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58337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AC7FF146-107E-EEB0-2A49-D52F2E1F5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e2b3de137c_0_87:notes">
            <a:extLst>
              <a:ext uri="{FF2B5EF4-FFF2-40B4-BE49-F238E27FC236}">
                <a16:creationId xmlns:a16="http://schemas.microsoft.com/office/drawing/2014/main" id="{EB6A925E-D939-5A7E-F608-BC4FFEC749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72" name="Google Shape;372;ge2b3de137c_0_87:notes">
            <a:extLst>
              <a:ext uri="{FF2B5EF4-FFF2-40B4-BE49-F238E27FC236}">
                <a16:creationId xmlns:a16="http://schemas.microsoft.com/office/drawing/2014/main" id="{C4DFFD84-5267-DFE9-5DE3-E5AE8025A1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03789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>
          <a:extLst>
            <a:ext uri="{FF2B5EF4-FFF2-40B4-BE49-F238E27FC236}">
              <a16:creationId xmlns:a16="http://schemas.microsoft.com/office/drawing/2014/main" id="{1F1D6235-9200-5251-C4B1-368FD2DEE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e35c3613c9_0_6:notes">
            <a:extLst>
              <a:ext uri="{FF2B5EF4-FFF2-40B4-BE49-F238E27FC236}">
                <a16:creationId xmlns:a16="http://schemas.microsoft.com/office/drawing/2014/main" id="{4CCE8CB2-A7BE-26FB-1BC5-F375EC3F20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62" name="Google Shape;362;ge35c3613c9_0_6:notes">
            <a:extLst>
              <a:ext uri="{FF2B5EF4-FFF2-40B4-BE49-F238E27FC236}">
                <a16:creationId xmlns:a16="http://schemas.microsoft.com/office/drawing/2014/main" id="{1FF6E81D-5D9B-13C9-8994-3B3B797F65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0441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82840" y="1523850"/>
            <a:ext cx="2298696" cy="5825846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6562465" y="1523850"/>
            <a:ext cx="2298696" cy="5825846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2178025" y="1180900"/>
            <a:ext cx="4788000" cy="224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74425" y="3461900"/>
            <a:ext cx="4595100" cy="5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2132799" y="1034101"/>
            <a:ext cx="2582312" cy="5801740"/>
          </a:xfrm>
          <a:custGeom>
            <a:avLst/>
            <a:gdLst/>
            <a:ahLst/>
            <a:cxnLst/>
            <a:rect l="l" t="t" r="r" b="b"/>
            <a:pathLst>
              <a:path w="17011" h="38219" extrusionOk="0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 rot="10800000">
            <a:off x="562674" y="-1388749"/>
            <a:ext cx="2582312" cy="5801740"/>
          </a:xfrm>
          <a:custGeom>
            <a:avLst/>
            <a:gdLst/>
            <a:ahLst/>
            <a:cxnLst/>
            <a:rect l="l" t="t" r="r" b="b"/>
            <a:pathLst>
              <a:path w="17011" h="38219" extrusionOk="0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4820350" y="2659450"/>
            <a:ext cx="3185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 b="1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4820350" y="887025"/>
            <a:ext cx="31854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5140600" y="3499575"/>
            <a:ext cx="2544900" cy="7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>
            <a:spLocks noGrp="1"/>
          </p:cNvSpPr>
          <p:nvPr>
            <p:ph type="body" idx="1"/>
          </p:nvPr>
        </p:nvSpPr>
        <p:spPr>
          <a:xfrm>
            <a:off x="720000" y="1692550"/>
            <a:ext cx="4655400" cy="23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lphaLcPeriod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romanLcPeriod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rabicPeriod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lphaLcPeriod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romanLcPeriod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rabicPeriod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lphaLcPeriod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57" name="Google Shape;57;p7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58" name="Google Shape;58;p7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7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7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7"/>
            <p:cNvSpPr/>
            <p:nvPr/>
          </p:nvSpPr>
          <p:spPr>
            <a:xfrm rot="-5400000" flipH="1">
              <a:off x="8376924" y="454693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7"/>
            <p:cNvSpPr/>
            <p:nvPr/>
          </p:nvSpPr>
          <p:spPr>
            <a:xfrm>
              <a:off x="116074" y="43172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AND_TWO_COLUMNS_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2" hasCustomPrompt="1"/>
          </p:nvPr>
        </p:nvSpPr>
        <p:spPr>
          <a:xfrm>
            <a:off x="780188" y="1634450"/>
            <a:ext cx="1152600" cy="10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"/>
          </p:nvPr>
        </p:nvSpPr>
        <p:spPr>
          <a:xfrm>
            <a:off x="1932788" y="22452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3"/>
          </p:nvPr>
        </p:nvSpPr>
        <p:spPr>
          <a:xfrm>
            <a:off x="1932788" y="17106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4" hasCustomPrompt="1"/>
          </p:nvPr>
        </p:nvSpPr>
        <p:spPr>
          <a:xfrm>
            <a:off x="4720913" y="1634450"/>
            <a:ext cx="1152600" cy="10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5"/>
          </p:nvPr>
        </p:nvSpPr>
        <p:spPr>
          <a:xfrm>
            <a:off x="5873513" y="22452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6"/>
          </p:nvPr>
        </p:nvSpPr>
        <p:spPr>
          <a:xfrm>
            <a:off x="5873513" y="17106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7" hasCustomPrompt="1"/>
          </p:nvPr>
        </p:nvSpPr>
        <p:spPr>
          <a:xfrm>
            <a:off x="780188" y="3095650"/>
            <a:ext cx="1152600" cy="10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8"/>
          </p:nvPr>
        </p:nvSpPr>
        <p:spPr>
          <a:xfrm>
            <a:off x="1932788" y="37064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9"/>
          </p:nvPr>
        </p:nvSpPr>
        <p:spPr>
          <a:xfrm>
            <a:off x="1932788" y="31718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13" hasCustomPrompt="1"/>
          </p:nvPr>
        </p:nvSpPr>
        <p:spPr>
          <a:xfrm>
            <a:off x="4720913" y="3095650"/>
            <a:ext cx="1152600" cy="10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subTitle" idx="14"/>
          </p:nvPr>
        </p:nvSpPr>
        <p:spPr>
          <a:xfrm>
            <a:off x="5873513" y="37064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subTitle" idx="15"/>
          </p:nvPr>
        </p:nvSpPr>
        <p:spPr>
          <a:xfrm>
            <a:off x="5873513" y="31718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grpSp>
        <p:nvGrpSpPr>
          <p:cNvPr id="120" name="Google Shape;120;p13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121" name="Google Shape;121;p13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 rot="-5400000" flipH="1">
              <a:off x="8376924" y="454693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116074" y="43172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7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7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7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7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8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8"/>
          <p:cNvSpPr/>
          <p:nvPr/>
        </p:nvSpPr>
        <p:spPr>
          <a:xfrm rot="5400000">
            <a:off x="491572" y="439372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8"/>
          <p:cNvSpPr/>
          <p:nvPr/>
        </p:nvSpPr>
        <p:spPr>
          <a:xfrm rot="-5400000">
            <a:off x="8195572" y="-20238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8"/>
          <p:cNvSpPr/>
          <p:nvPr/>
        </p:nvSpPr>
        <p:spPr>
          <a:xfrm rot="10800000">
            <a:off x="111672" y="19344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8"/>
          <p:cNvSpPr/>
          <p:nvPr/>
        </p:nvSpPr>
        <p:spPr>
          <a:xfrm>
            <a:off x="8590622" y="402869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29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305" name="Google Shape;305;p29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9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9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9"/>
            <p:cNvSpPr/>
            <p:nvPr/>
          </p:nvSpPr>
          <p:spPr>
            <a:xfrm rot="-5400000" flipH="1">
              <a:off x="8376924" y="454693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9"/>
            <p:cNvSpPr/>
            <p:nvPr/>
          </p:nvSpPr>
          <p:spPr>
            <a:xfrm>
              <a:off x="116074" y="43172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●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○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■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●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○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■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●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○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■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8" r:id="rId4"/>
    <p:sldLayoutId id="2147483659" r:id="rId5"/>
    <p:sldLayoutId id="2147483673" r:id="rId6"/>
    <p:sldLayoutId id="2147483674" r:id="rId7"/>
    <p:sldLayoutId id="214748367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2"/>
          <p:cNvSpPr txBox="1">
            <a:spLocks noGrp="1"/>
          </p:cNvSpPr>
          <p:nvPr>
            <p:ph type="ctrTitle"/>
          </p:nvPr>
        </p:nvSpPr>
        <p:spPr>
          <a:xfrm>
            <a:off x="2177975" y="1007600"/>
            <a:ext cx="4788000" cy="224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SILVERMAN 4x4 CHESS BOT</a:t>
            </a:r>
            <a:endParaRPr sz="5400" dirty="0"/>
          </a:p>
        </p:txBody>
      </p:sp>
      <p:sp>
        <p:nvSpPr>
          <p:cNvPr id="319" name="Google Shape;319;p32"/>
          <p:cNvSpPr txBox="1">
            <a:spLocks noGrp="1"/>
          </p:cNvSpPr>
          <p:nvPr>
            <p:ph type="subTitle" idx="1"/>
          </p:nvPr>
        </p:nvSpPr>
        <p:spPr>
          <a:xfrm>
            <a:off x="2274425" y="3461900"/>
            <a:ext cx="4595100" cy="5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Lalit Maurya • Jia Khot • Rachit Kumar</a:t>
            </a:r>
            <a:endParaRPr dirty="0"/>
          </a:p>
        </p:txBody>
      </p:sp>
      <p:sp>
        <p:nvSpPr>
          <p:cNvPr id="320" name="Google Shape;320;p32"/>
          <p:cNvSpPr/>
          <p:nvPr/>
        </p:nvSpPr>
        <p:spPr>
          <a:xfrm>
            <a:off x="3812225" y="791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32"/>
          <p:cNvSpPr/>
          <p:nvPr/>
        </p:nvSpPr>
        <p:spPr>
          <a:xfrm>
            <a:off x="4482425" y="791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32"/>
          <p:cNvSpPr/>
          <p:nvPr/>
        </p:nvSpPr>
        <p:spPr>
          <a:xfrm>
            <a:off x="5152625" y="791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32"/>
          <p:cNvSpPr/>
          <p:nvPr/>
        </p:nvSpPr>
        <p:spPr>
          <a:xfrm>
            <a:off x="3812225" y="4172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2"/>
          <p:cNvSpPr/>
          <p:nvPr/>
        </p:nvSpPr>
        <p:spPr>
          <a:xfrm>
            <a:off x="4482425" y="4172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2"/>
          <p:cNvSpPr/>
          <p:nvPr/>
        </p:nvSpPr>
        <p:spPr>
          <a:xfrm>
            <a:off x="5152625" y="4172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341" name="Google Shape;341;p34"/>
          <p:cNvSpPr txBox="1">
            <a:spLocks noGrp="1"/>
          </p:cNvSpPr>
          <p:nvPr>
            <p:ph type="title" idx="2"/>
          </p:nvPr>
        </p:nvSpPr>
        <p:spPr>
          <a:xfrm>
            <a:off x="780188" y="1634450"/>
            <a:ext cx="1152600" cy="10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42" name="Google Shape;342;p34"/>
          <p:cNvSpPr txBox="1">
            <a:spLocks noGrp="1"/>
          </p:cNvSpPr>
          <p:nvPr>
            <p:ph type="subTitle" idx="3"/>
          </p:nvPr>
        </p:nvSpPr>
        <p:spPr>
          <a:xfrm>
            <a:off x="1932788" y="19041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343" name="Google Shape;343;p34"/>
          <p:cNvSpPr txBox="1">
            <a:spLocks noGrp="1"/>
          </p:cNvSpPr>
          <p:nvPr>
            <p:ph type="title" idx="4"/>
          </p:nvPr>
        </p:nvSpPr>
        <p:spPr>
          <a:xfrm>
            <a:off x="4720913" y="1634450"/>
            <a:ext cx="1152600" cy="10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45" name="Google Shape;345;p34"/>
          <p:cNvSpPr txBox="1">
            <a:spLocks noGrp="1"/>
          </p:cNvSpPr>
          <p:nvPr>
            <p:ph type="subTitle" idx="6"/>
          </p:nvPr>
        </p:nvSpPr>
        <p:spPr>
          <a:xfrm>
            <a:off x="5873513" y="19041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sp>
        <p:nvSpPr>
          <p:cNvPr id="346" name="Google Shape;346;p34"/>
          <p:cNvSpPr txBox="1">
            <a:spLocks noGrp="1"/>
          </p:cNvSpPr>
          <p:nvPr>
            <p:ph type="title" idx="7"/>
          </p:nvPr>
        </p:nvSpPr>
        <p:spPr>
          <a:xfrm>
            <a:off x="780188" y="3095650"/>
            <a:ext cx="1152600" cy="10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48" name="Google Shape;348;p34"/>
          <p:cNvSpPr txBox="1">
            <a:spLocks noGrp="1"/>
          </p:cNvSpPr>
          <p:nvPr>
            <p:ph type="subTitle" idx="9"/>
          </p:nvPr>
        </p:nvSpPr>
        <p:spPr>
          <a:xfrm>
            <a:off x="1932788" y="33653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RESULTS</a:t>
            </a:r>
            <a:endParaRPr dirty="0"/>
          </a:p>
        </p:txBody>
      </p:sp>
      <p:sp>
        <p:nvSpPr>
          <p:cNvPr id="349" name="Google Shape;349;p34"/>
          <p:cNvSpPr txBox="1">
            <a:spLocks noGrp="1"/>
          </p:cNvSpPr>
          <p:nvPr>
            <p:ph type="title" idx="13"/>
          </p:nvPr>
        </p:nvSpPr>
        <p:spPr>
          <a:xfrm>
            <a:off x="4720913" y="3095650"/>
            <a:ext cx="1152600" cy="10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51" name="Google Shape;351;p34"/>
          <p:cNvSpPr txBox="1">
            <a:spLocks noGrp="1"/>
          </p:cNvSpPr>
          <p:nvPr>
            <p:ph type="subTitle" idx="15"/>
          </p:nvPr>
        </p:nvSpPr>
        <p:spPr>
          <a:xfrm>
            <a:off x="5873513" y="3365350"/>
            <a:ext cx="24903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</a:t>
            </a:r>
            <a:endParaRPr dirty="0"/>
          </a:p>
        </p:txBody>
      </p:sp>
      <p:sp>
        <p:nvSpPr>
          <p:cNvPr id="352" name="Google Shape;352;p34"/>
          <p:cNvSpPr/>
          <p:nvPr/>
        </p:nvSpPr>
        <p:spPr>
          <a:xfrm>
            <a:off x="815900" y="681625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34"/>
          <p:cNvSpPr/>
          <p:nvPr/>
        </p:nvSpPr>
        <p:spPr>
          <a:xfrm>
            <a:off x="8149000" y="681625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6"/>
          <p:cNvSpPr txBox="1">
            <a:spLocks noGrp="1"/>
          </p:cNvSpPr>
          <p:nvPr>
            <p:ph type="title"/>
          </p:nvPr>
        </p:nvSpPr>
        <p:spPr>
          <a:xfrm>
            <a:off x="4618490" y="2657775"/>
            <a:ext cx="3684313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366" name="Google Shape;366;p36"/>
          <p:cNvSpPr txBox="1">
            <a:spLocks noGrp="1"/>
          </p:cNvSpPr>
          <p:nvPr>
            <p:ph type="title" idx="2"/>
          </p:nvPr>
        </p:nvSpPr>
        <p:spPr>
          <a:xfrm>
            <a:off x="4820350" y="887025"/>
            <a:ext cx="31854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367" name="Google Shape;367;p36"/>
          <p:cNvGrpSpPr/>
          <p:nvPr/>
        </p:nvGrpSpPr>
        <p:grpSpPr>
          <a:xfrm>
            <a:off x="5196100" y="1779225"/>
            <a:ext cx="2433900" cy="179100"/>
            <a:chOff x="5196100" y="2297550"/>
            <a:chExt cx="2433900" cy="179100"/>
          </a:xfrm>
        </p:grpSpPr>
        <p:sp>
          <p:nvSpPr>
            <p:cNvPr id="368" name="Google Shape;368;p36"/>
            <p:cNvSpPr/>
            <p:nvPr/>
          </p:nvSpPr>
          <p:spPr>
            <a:xfrm>
              <a:off x="5196100" y="2297550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6"/>
            <p:cNvSpPr/>
            <p:nvPr/>
          </p:nvSpPr>
          <p:spPr>
            <a:xfrm>
              <a:off x="7450900" y="2297550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Silverman 4x4?</a:t>
            </a:r>
            <a:endParaRPr dirty="0"/>
          </a:p>
        </p:txBody>
      </p:sp>
      <p:sp>
        <p:nvSpPr>
          <p:cNvPr id="375" name="Google Shape;375;p37"/>
          <p:cNvSpPr txBox="1">
            <a:spLocks noGrp="1"/>
          </p:cNvSpPr>
          <p:nvPr>
            <p:ph type="body" idx="1"/>
          </p:nvPr>
        </p:nvSpPr>
        <p:spPr>
          <a:xfrm>
            <a:off x="719999" y="1254325"/>
            <a:ext cx="4655400" cy="31541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sz="1800" dirty="0"/>
              <a:t>Silverman 4x4 is a simplified chess board proposed in 1981 by David Silverman.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endParaRPr lang="en-US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sz="1800" dirty="0"/>
              <a:t>The board consists of 4 Pawns, 2 Rooks, a Queen and a King on each side, with the Pawns lined up in the middle and the Rooks at the corners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endParaRPr lang="en-US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sz="1800" dirty="0"/>
              <a:t>The AI Agent always plays Black for implementation simplicity, but this is easy to change</a:t>
            </a:r>
            <a:endParaRPr sz="1800" dirty="0"/>
          </a:p>
        </p:txBody>
      </p:sp>
      <p:grpSp>
        <p:nvGrpSpPr>
          <p:cNvPr id="376" name="Google Shape;376;p37"/>
          <p:cNvGrpSpPr/>
          <p:nvPr/>
        </p:nvGrpSpPr>
        <p:grpSpPr>
          <a:xfrm>
            <a:off x="5673099" y="1739783"/>
            <a:ext cx="2750902" cy="2277618"/>
            <a:chOff x="5673099" y="1739783"/>
            <a:chExt cx="2750902" cy="2277618"/>
          </a:xfrm>
        </p:grpSpPr>
        <p:sp>
          <p:nvSpPr>
            <p:cNvPr id="377" name="Google Shape;377;p37"/>
            <p:cNvSpPr/>
            <p:nvPr/>
          </p:nvSpPr>
          <p:spPr>
            <a:xfrm>
              <a:off x="56730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7"/>
            <p:cNvSpPr/>
            <p:nvPr/>
          </p:nvSpPr>
          <p:spPr>
            <a:xfrm>
              <a:off x="62514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7"/>
            <p:cNvSpPr/>
            <p:nvPr/>
          </p:nvSpPr>
          <p:spPr>
            <a:xfrm>
              <a:off x="68298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7"/>
            <p:cNvSpPr/>
            <p:nvPr/>
          </p:nvSpPr>
          <p:spPr>
            <a:xfrm>
              <a:off x="74082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7"/>
            <p:cNvSpPr/>
            <p:nvPr/>
          </p:nvSpPr>
          <p:spPr>
            <a:xfrm>
              <a:off x="7986699" y="1739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7"/>
            <p:cNvSpPr/>
            <p:nvPr/>
          </p:nvSpPr>
          <p:spPr>
            <a:xfrm>
              <a:off x="56730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7"/>
            <p:cNvSpPr/>
            <p:nvPr/>
          </p:nvSpPr>
          <p:spPr>
            <a:xfrm>
              <a:off x="62514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7"/>
            <p:cNvSpPr/>
            <p:nvPr/>
          </p:nvSpPr>
          <p:spPr>
            <a:xfrm>
              <a:off x="68298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7"/>
            <p:cNvSpPr/>
            <p:nvPr/>
          </p:nvSpPr>
          <p:spPr>
            <a:xfrm>
              <a:off x="74082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7"/>
            <p:cNvSpPr/>
            <p:nvPr/>
          </p:nvSpPr>
          <p:spPr>
            <a:xfrm>
              <a:off x="7986699" y="25522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7"/>
            <p:cNvSpPr/>
            <p:nvPr/>
          </p:nvSpPr>
          <p:spPr>
            <a:xfrm>
              <a:off x="56730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7"/>
            <p:cNvSpPr/>
            <p:nvPr/>
          </p:nvSpPr>
          <p:spPr>
            <a:xfrm>
              <a:off x="62514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7"/>
            <p:cNvSpPr/>
            <p:nvPr/>
          </p:nvSpPr>
          <p:spPr>
            <a:xfrm>
              <a:off x="68298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7"/>
            <p:cNvSpPr/>
            <p:nvPr/>
          </p:nvSpPr>
          <p:spPr>
            <a:xfrm>
              <a:off x="74082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7"/>
            <p:cNvSpPr/>
            <p:nvPr/>
          </p:nvSpPr>
          <p:spPr>
            <a:xfrm>
              <a:off x="7986699" y="336478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2" name="Google Shape;392;p37"/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393" name="Google Shape;393;p37"/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7"/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>
          <a:extLst>
            <a:ext uri="{FF2B5EF4-FFF2-40B4-BE49-F238E27FC236}">
              <a16:creationId xmlns:a16="http://schemas.microsoft.com/office/drawing/2014/main" id="{C2E73ED4-7E8D-2A76-E084-A72870080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6">
            <a:extLst>
              <a:ext uri="{FF2B5EF4-FFF2-40B4-BE49-F238E27FC236}">
                <a16:creationId xmlns:a16="http://schemas.microsoft.com/office/drawing/2014/main" id="{43DB198E-3848-BE34-0D18-DE8DE46D1F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18490" y="2657775"/>
            <a:ext cx="3684313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sp>
        <p:nvSpPr>
          <p:cNvPr id="366" name="Google Shape;366;p36">
            <a:extLst>
              <a:ext uri="{FF2B5EF4-FFF2-40B4-BE49-F238E27FC236}">
                <a16:creationId xmlns:a16="http://schemas.microsoft.com/office/drawing/2014/main" id="{B1A9EC86-8113-CEC5-0885-AB91C7172A0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820350" y="887025"/>
            <a:ext cx="31854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367" name="Google Shape;367;p36">
            <a:extLst>
              <a:ext uri="{FF2B5EF4-FFF2-40B4-BE49-F238E27FC236}">
                <a16:creationId xmlns:a16="http://schemas.microsoft.com/office/drawing/2014/main" id="{537B9496-AA43-60DE-E56F-6239FA3834EE}"/>
              </a:ext>
            </a:extLst>
          </p:cNvPr>
          <p:cNvGrpSpPr/>
          <p:nvPr/>
        </p:nvGrpSpPr>
        <p:grpSpPr>
          <a:xfrm>
            <a:off x="5196100" y="1779225"/>
            <a:ext cx="2433900" cy="179100"/>
            <a:chOff x="5196100" y="2297550"/>
            <a:chExt cx="2433900" cy="179100"/>
          </a:xfrm>
        </p:grpSpPr>
        <p:sp>
          <p:nvSpPr>
            <p:cNvPr id="368" name="Google Shape;368;p36">
              <a:extLst>
                <a:ext uri="{FF2B5EF4-FFF2-40B4-BE49-F238E27FC236}">
                  <a16:creationId xmlns:a16="http://schemas.microsoft.com/office/drawing/2014/main" id="{6FE0F9DA-6BC6-0BE9-6EF7-23B0363110ED}"/>
                </a:ext>
              </a:extLst>
            </p:cNvPr>
            <p:cNvSpPr/>
            <p:nvPr/>
          </p:nvSpPr>
          <p:spPr>
            <a:xfrm>
              <a:off x="5196100" y="2297550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6">
              <a:extLst>
                <a:ext uri="{FF2B5EF4-FFF2-40B4-BE49-F238E27FC236}">
                  <a16:creationId xmlns:a16="http://schemas.microsoft.com/office/drawing/2014/main" id="{9661322A-7532-1411-2DB9-0A4BE06C37F1}"/>
                </a:ext>
              </a:extLst>
            </p:cNvPr>
            <p:cNvSpPr/>
            <p:nvPr/>
          </p:nvSpPr>
          <p:spPr>
            <a:xfrm>
              <a:off x="7450900" y="2297550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22292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2F11854D-BFED-F0E5-B07F-E9D09EBBD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7">
            <a:extLst>
              <a:ext uri="{FF2B5EF4-FFF2-40B4-BE49-F238E27FC236}">
                <a16:creationId xmlns:a16="http://schemas.microsoft.com/office/drawing/2014/main" id="{91E0A9CD-2CDF-3910-EF61-67CA3D7FC8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Minimax Algorithm</a:t>
            </a:r>
            <a:endParaRPr dirty="0"/>
          </a:p>
        </p:txBody>
      </p:sp>
      <p:sp>
        <p:nvSpPr>
          <p:cNvPr id="375" name="Google Shape;375;p37">
            <a:extLst>
              <a:ext uri="{FF2B5EF4-FFF2-40B4-BE49-F238E27FC236}">
                <a16:creationId xmlns:a16="http://schemas.microsoft.com/office/drawing/2014/main" id="{34FC679A-A202-5EF5-894C-B30B45A536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9999" y="1254325"/>
            <a:ext cx="7963084" cy="31541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sz="1800" dirty="0"/>
              <a:t>The core approach we use to explore the state space is the Minimax algorithm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endParaRPr lang="en-US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sz="1800" dirty="0"/>
              <a:t>Minimax Search: Recursively evaluates the game tree to find optimal moves; it stages moves by both the Minimizing player (Human) and the Maximizing player (AI) to decide the optimal move. At terminal nodes, it assigns a static score to the node based upon a heuristic that accounts for state attributes like captured pieces, threatened pieces, etc.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endParaRPr lang="en-US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sz="1800" dirty="0"/>
              <a:t>We use a depth-limited variant since the state space is large.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endParaRPr lang="en-US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sz="1800" dirty="0"/>
              <a:t>Minimax often wastes time exploring inconsequential subgraphs.</a:t>
            </a:r>
          </a:p>
        </p:txBody>
      </p:sp>
      <p:grpSp>
        <p:nvGrpSpPr>
          <p:cNvPr id="392" name="Google Shape;392;p37">
            <a:extLst>
              <a:ext uri="{FF2B5EF4-FFF2-40B4-BE49-F238E27FC236}">
                <a16:creationId xmlns:a16="http://schemas.microsoft.com/office/drawing/2014/main" id="{2EBBFE77-16BD-58AA-4555-5AD55283864A}"/>
              </a:ext>
            </a:extLst>
          </p:cNvPr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393" name="Google Shape;393;p37">
              <a:extLst>
                <a:ext uri="{FF2B5EF4-FFF2-40B4-BE49-F238E27FC236}">
                  <a16:creationId xmlns:a16="http://schemas.microsoft.com/office/drawing/2014/main" id="{EA7A4A9D-1D42-F724-13B0-39CE58689CDF}"/>
                </a:ext>
              </a:extLst>
            </p:cNvPr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7">
              <a:extLst>
                <a:ext uri="{FF2B5EF4-FFF2-40B4-BE49-F238E27FC236}">
                  <a16:creationId xmlns:a16="http://schemas.microsoft.com/office/drawing/2014/main" id="{CE737969-285E-54E1-A9A7-2CDF1BAAAFC9}"/>
                </a:ext>
              </a:extLst>
            </p:cNvPr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59519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979972E2-DEAE-EC6A-6CE8-3CAA6BC4C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7">
            <a:extLst>
              <a:ext uri="{FF2B5EF4-FFF2-40B4-BE49-F238E27FC236}">
                <a16:creationId xmlns:a16="http://schemas.microsoft.com/office/drawing/2014/main" id="{381D145D-C515-EA3A-ED4B-84D9EB0EA5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Alpha-Beta Pruning</a:t>
            </a:r>
            <a:endParaRPr dirty="0"/>
          </a:p>
        </p:txBody>
      </p:sp>
      <p:sp>
        <p:nvSpPr>
          <p:cNvPr id="375" name="Google Shape;375;p37">
            <a:extLst>
              <a:ext uri="{FF2B5EF4-FFF2-40B4-BE49-F238E27FC236}">
                <a16:creationId xmlns:a16="http://schemas.microsoft.com/office/drawing/2014/main" id="{A3A65659-EEE0-D34A-D0A8-2FA50638ED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9999" y="1254325"/>
            <a:ext cx="7963084" cy="31541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sz="1800" dirty="0"/>
              <a:t>While exploration, the algorithm keeps track of two values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endParaRPr lang="en-US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sz="1800" dirty="0"/>
              <a:t>- Alpha (</a:t>
            </a:r>
            <a:r>
              <a:rPr lang="el-GR" sz="1800" dirty="0"/>
              <a:t>α</a:t>
            </a:r>
            <a:r>
              <a:rPr lang="en-US" sz="1800" dirty="0"/>
              <a:t>): Best value the maximizing player can guarantee so far</a:t>
            </a:r>
          </a:p>
          <a:p>
            <a:pPr marL="0" lvl="0" indent="0">
              <a:buClr>
                <a:srgbClr val="273D40"/>
              </a:buClr>
              <a:buSzPts val="600"/>
              <a:buNone/>
            </a:pPr>
            <a:r>
              <a:rPr lang="en-US" sz="1800" dirty="0"/>
              <a:t>- Beta (</a:t>
            </a:r>
            <a:r>
              <a:rPr lang="el-GR" sz="1800" dirty="0"/>
              <a:t>β</a:t>
            </a:r>
            <a:r>
              <a:rPr lang="en-US" sz="1800" dirty="0"/>
              <a:t>): Best value the minimizing player can guarantee so far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endParaRPr lang="en-US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sz="1800" dirty="0"/>
              <a:t>If (β ≤ α) ⇒ skip this branch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endParaRPr lang="en-US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sz="1800" dirty="0"/>
              <a:t>At this point in the search, the minimizing player already has a guaranteed value β and the maximizing player already has a guaranteed value α. If β ≤ α, it means the minimizer can force an outcome no better than β, while the maximizer can already secure at least α, which is ≥ β.</a:t>
            </a:r>
          </a:p>
        </p:txBody>
      </p:sp>
      <p:grpSp>
        <p:nvGrpSpPr>
          <p:cNvPr id="392" name="Google Shape;392;p37">
            <a:extLst>
              <a:ext uri="{FF2B5EF4-FFF2-40B4-BE49-F238E27FC236}">
                <a16:creationId xmlns:a16="http://schemas.microsoft.com/office/drawing/2014/main" id="{313B483B-42CC-3E9B-B87D-24ADFE9198EA}"/>
              </a:ext>
            </a:extLst>
          </p:cNvPr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393" name="Google Shape;393;p37">
              <a:extLst>
                <a:ext uri="{FF2B5EF4-FFF2-40B4-BE49-F238E27FC236}">
                  <a16:creationId xmlns:a16="http://schemas.microsoft.com/office/drawing/2014/main" id="{C0A902C3-A9A6-39DC-DFDD-A28D72258BBE}"/>
                </a:ext>
              </a:extLst>
            </p:cNvPr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7">
              <a:extLst>
                <a:ext uri="{FF2B5EF4-FFF2-40B4-BE49-F238E27FC236}">
                  <a16:creationId xmlns:a16="http://schemas.microsoft.com/office/drawing/2014/main" id="{472E645D-F75F-4A27-FCC0-CA9B052A42C2}"/>
                </a:ext>
              </a:extLst>
            </p:cNvPr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95907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>
          <a:extLst>
            <a:ext uri="{FF2B5EF4-FFF2-40B4-BE49-F238E27FC236}">
              <a16:creationId xmlns:a16="http://schemas.microsoft.com/office/drawing/2014/main" id="{BF586B3B-6D70-AB99-CBFA-87E04EAA6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6">
            <a:extLst>
              <a:ext uri="{FF2B5EF4-FFF2-40B4-BE49-F238E27FC236}">
                <a16:creationId xmlns:a16="http://schemas.microsoft.com/office/drawing/2014/main" id="{409AEB26-3451-70AC-E8E2-342A62A1B8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18490" y="2657775"/>
            <a:ext cx="3684313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</a:t>
            </a:r>
            <a:endParaRPr dirty="0"/>
          </a:p>
        </p:txBody>
      </p:sp>
      <p:sp>
        <p:nvSpPr>
          <p:cNvPr id="366" name="Google Shape;366;p36">
            <a:extLst>
              <a:ext uri="{FF2B5EF4-FFF2-40B4-BE49-F238E27FC236}">
                <a16:creationId xmlns:a16="http://schemas.microsoft.com/office/drawing/2014/main" id="{BDFE5EA3-E811-4758-85DD-8516D8FBB78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820350" y="887025"/>
            <a:ext cx="31854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367" name="Google Shape;367;p36">
            <a:extLst>
              <a:ext uri="{FF2B5EF4-FFF2-40B4-BE49-F238E27FC236}">
                <a16:creationId xmlns:a16="http://schemas.microsoft.com/office/drawing/2014/main" id="{61536998-7574-12DB-C80A-12CB9AA5D638}"/>
              </a:ext>
            </a:extLst>
          </p:cNvPr>
          <p:cNvGrpSpPr/>
          <p:nvPr/>
        </p:nvGrpSpPr>
        <p:grpSpPr>
          <a:xfrm>
            <a:off x="5196100" y="1779225"/>
            <a:ext cx="2433900" cy="179100"/>
            <a:chOff x="5196100" y="2297550"/>
            <a:chExt cx="2433900" cy="179100"/>
          </a:xfrm>
        </p:grpSpPr>
        <p:sp>
          <p:nvSpPr>
            <p:cNvPr id="368" name="Google Shape;368;p36">
              <a:extLst>
                <a:ext uri="{FF2B5EF4-FFF2-40B4-BE49-F238E27FC236}">
                  <a16:creationId xmlns:a16="http://schemas.microsoft.com/office/drawing/2014/main" id="{DE3002A6-E742-77E3-9D51-DA660EDDC77C}"/>
                </a:ext>
              </a:extLst>
            </p:cNvPr>
            <p:cNvSpPr/>
            <p:nvPr/>
          </p:nvSpPr>
          <p:spPr>
            <a:xfrm>
              <a:off x="5196100" y="2297550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6">
              <a:extLst>
                <a:ext uri="{FF2B5EF4-FFF2-40B4-BE49-F238E27FC236}">
                  <a16:creationId xmlns:a16="http://schemas.microsoft.com/office/drawing/2014/main" id="{5A29A1DF-9A15-8E0B-5AFF-4AE14E490101}"/>
                </a:ext>
              </a:extLst>
            </p:cNvPr>
            <p:cNvSpPr/>
            <p:nvPr/>
          </p:nvSpPr>
          <p:spPr>
            <a:xfrm>
              <a:off x="7450900" y="2297550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38883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A34EFB48-18E0-F998-65F0-11EDAC979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7">
            <a:extLst>
              <a:ext uri="{FF2B5EF4-FFF2-40B4-BE49-F238E27FC236}">
                <a16:creationId xmlns:a16="http://schemas.microsoft.com/office/drawing/2014/main" id="{42FF62A6-C597-539A-3392-D0E02C2D1B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Results</a:t>
            </a:r>
            <a:endParaRPr dirty="0"/>
          </a:p>
        </p:txBody>
      </p:sp>
      <p:sp>
        <p:nvSpPr>
          <p:cNvPr id="375" name="Google Shape;375;p37">
            <a:extLst>
              <a:ext uri="{FF2B5EF4-FFF2-40B4-BE49-F238E27FC236}">
                <a16:creationId xmlns:a16="http://schemas.microsoft.com/office/drawing/2014/main" id="{0BA59E03-C001-AB58-56EC-C8660DBB5D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9999" y="1254325"/>
            <a:ext cx="7704000" cy="33548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sz="1800" dirty="0"/>
              <a:t>We wrote a test suite with custom test cases to measure if the AI plays the optimal moves. It performs well in most scenarios, delivering one-move checkmates with consistency. However, when you play against the AI, it tends to move towards stalemate rather than long-term checkmate strategies.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endParaRPr lang="en-US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sz="1800" dirty="0"/>
              <a:t>We can improve performance by employing a better move ordering to prune away larger parts of the subgraph.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endParaRPr lang="en-US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sz="1800" dirty="0"/>
              <a:t>A better heuristic for static node evaluation can result in the AI playing better moves.</a:t>
            </a:r>
          </a:p>
        </p:txBody>
      </p:sp>
      <p:grpSp>
        <p:nvGrpSpPr>
          <p:cNvPr id="392" name="Google Shape;392;p37">
            <a:extLst>
              <a:ext uri="{FF2B5EF4-FFF2-40B4-BE49-F238E27FC236}">
                <a16:creationId xmlns:a16="http://schemas.microsoft.com/office/drawing/2014/main" id="{A1BB2DB6-EFBC-2B82-5CE7-FC6B959E7207}"/>
              </a:ext>
            </a:extLst>
          </p:cNvPr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393" name="Google Shape;393;p37">
              <a:extLst>
                <a:ext uri="{FF2B5EF4-FFF2-40B4-BE49-F238E27FC236}">
                  <a16:creationId xmlns:a16="http://schemas.microsoft.com/office/drawing/2014/main" id="{3327E2A4-ECFA-E741-FC25-224B840D8050}"/>
                </a:ext>
              </a:extLst>
            </p:cNvPr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7">
              <a:extLst>
                <a:ext uri="{FF2B5EF4-FFF2-40B4-BE49-F238E27FC236}">
                  <a16:creationId xmlns:a16="http://schemas.microsoft.com/office/drawing/2014/main" id="{49BFA912-AAE7-ACD7-1620-D7C1A9DC9107}"/>
                </a:ext>
              </a:extLst>
            </p:cNvPr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44198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>
          <a:extLst>
            <a:ext uri="{FF2B5EF4-FFF2-40B4-BE49-F238E27FC236}">
              <a16:creationId xmlns:a16="http://schemas.microsoft.com/office/drawing/2014/main" id="{207F067E-F033-FFDB-E728-618BBA2B6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6">
            <a:extLst>
              <a:ext uri="{FF2B5EF4-FFF2-40B4-BE49-F238E27FC236}">
                <a16:creationId xmlns:a16="http://schemas.microsoft.com/office/drawing/2014/main" id="{51381283-1F4F-7DA6-6AD9-D5F00B96C3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18490" y="2657775"/>
            <a:ext cx="3684313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</a:t>
            </a:r>
            <a:endParaRPr dirty="0"/>
          </a:p>
        </p:txBody>
      </p:sp>
      <p:sp>
        <p:nvSpPr>
          <p:cNvPr id="366" name="Google Shape;366;p36">
            <a:extLst>
              <a:ext uri="{FF2B5EF4-FFF2-40B4-BE49-F238E27FC236}">
                <a16:creationId xmlns:a16="http://schemas.microsoft.com/office/drawing/2014/main" id="{FCE82F93-E8C4-0108-2AC5-FE4ED2B3A0C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820350" y="887025"/>
            <a:ext cx="31854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367" name="Google Shape;367;p36">
            <a:extLst>
              <a:ext uri="{FF2B5EF4-FFF2-40B4-BE49-F238E27FC236}">
                <a16:creationId xmlns:a16="http://schemas.microsoft.com/office/drawing/2014/main" id="{17A2CDC7-E4C5-64A5-BFD5-F2F57DE79015}"/>
              </a:ext>
            </a:extLst>
          </p:cNvPr>
          <p:cNvGrpSpPr/>
          <p:nvPr/>
        </p:nvGrpSpPr>
        <p:grpSpPr>
          <a:xfrm>
            <a:off x="5196100" y="1779225"/>
            <a:ext cx="2433900" cy="179100"/>
            <a:chOff x="5196100" y="2297550"/>
            <a:chExt cx="2433900" cy="179100"/>
          </a:xfrm>
        </p:grpSpPr>
        <p:sp>
          <p:nvSpPr>
            <p:cNvPr id="368" name="Google Shape;368;p36">
              <a:extLst>
                <a:ext uri="{FF2B5EF4-FFF2-40B4-BE49-F238E27FC236}">
                  <a16:creationId xmlns:a16="http://schemas.microsoft.com/office/drawing/2014/main" id="{B33FE131-7F7E-38AC-0748-B4E0B119EEF0}"/>
                </a:ext>
              </a:extLst>
            </p:cNvPr>
            <p:cNvSpPr/>
            <p:nvPr/>
          </p:nvSpPr>
          <p:spPr>
            <a:xfrm>
              <a:off x="5196100" y="2297550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6">
              <a:extLst>
                <a:ext uri="{FF2B5EF4-FFF2-40B4-BE49-F238E27FC236}">
                  <a16:creationId xmlns:a16="http://schemas.microsoft.com/office/drawing/2014/main" id="{518DCC46-FB76-52D4-E6E1-B5BEDD0942DD}"/>
                </a:ext>
              </a:extLst>
            </p:cNvPr>
            <p:cNvSpPr/>
            <p:nvPr/>
          </p:nvSpPr>
          <p:spPr>
            <a:xfrm>
              <a:off x="7450900" y="2297550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52228570"/>
      </p:ext>
    </p:extLst>
  </p:cSld>
  <p:clrMapOvr>
    <a:masterClrMapping/>
  </p:clrMapOvr>
</p:sld>
</file>

<file path=ppt/theme/theme1.xml><?xml version="1.0" encoding="utf-8"?>
<a:theme xmlns:a="http://schemas.openxmlformats.org/drawingml/2006/main" name="American Chess Day by Slidesgo">
  <a:themeElements>
    <a:clrScheme name="Simple Light">
      <a:dk1>
        <a:srgbClr val="523E32"/>
      </a:dk1>
      <a:lt1>
        <a:srgbClr val="816353"/>
      </a:lt1>
      <a:dk2>
        <a:srgbClr val="719972"/>
      </a:dk2>
      <a:lt2>
        <a:srgbClr val="F7F0E0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523E3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401</Words>
  <Application>Microsoft Office PowerPoint</Application>
  <PresentationFormat>On-screen Show (16:9)</PresentationFormat>
  <Paragraphs>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Oranienbaum</vt:lpstr>
      <vt:lpstr>Anaheim</vt:lpstr>
      <vt:lpstr>American Chess Day by Slidesgo</vt:lpstr>
      <vt:lpstr>SILVERMAN 4x4 CHESS BOT</vt:lpstr>
      <vt:lpstr>TABLE OF CONTENTS</vt:lpstr>
      <vt:lpstr>INTRODUCTION</vt:lpstr>
      <vt:lpstr>What is Silverman 4x4?</vt:lpstr>
      <vt:lpstr>METHODOLOGY</vt:lpstr>
      <vt:lpstr>Minimax Algorithm</vt:lpstr>
      <vt:lpstr>Alpha-Beta Pruning</vt:lpstr>
      <vt:lpstr>RESULTS</vt:lpstr>
      <vt:lpstr>Results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Lalit Maurya</cp:lastModifiedBy>
  <cp:revision>11</cp:revision>
  <dcterms:modified xsi:type="dcterms:W3CDTF">2025-11-26T07:01:48Z</dcterms:modified>
</cp:coreProperties>
</file>